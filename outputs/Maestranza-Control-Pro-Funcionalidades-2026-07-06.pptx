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729aeb83e74a6a" /><Relationship Type="http://schemas.openxmlformats.org/officeDocument/2006/relationships/extended-properties" Target="/docProps/app.xml" Id="R425f409580f34b29" /><Relationship Type="http://schemas.openxmlformats.org/officeDocument/2006/relationships/officeDocument" Target="/ppt/presentation.xml" Id="Rfdd802ac5f464a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df551c7d045c6"/>
  </p:sldMasterIdLst>
  <p:notesMasterIdLst>
    <p:notesMasterId xmlns:r="http://schemas.openxmlformats.org/officeDocument/2006/relationships" r:id="R0d29aef76f034774"/>
  </p:notesMasterIdLst>
  <p:sldIdLst>
    <p:sldId xmlns:r="http://schemas.openxmlformats.org/officeDocument/2006/relationships" id="256" r:id="R7d86ae9bacfc45c9"/>
    <p:sldId xmlns:r="http://schemas.openxmlformats.org/officeDocument/2006/relationships" id="257" r:id="Ra92b8381d5234b87"/>
    <p:sldId xmlns:r="http://schemas.openxmlformats.org/officeDocument/2006/relationships" id="258" r:id="Ra3f8c7abfb7d4c89"/>
    <p:sldId xmlns:r="http://schemas.openxmlformats.org/officeDocument/2006/relationships" id="259" r:id="R4c88307f0a4e4e1c"/>
    <p:sldId xmlns:r="http://schemas.openxmlformats.org/officeDocument/2006/relationships" id="260" r:id="Rddeda7c5cf7b406c"/>
    <p:sldId xmlns:r="http://schemas.openxmlformats.org/officeDocument/2006/relationships" id="261" r:id="Rb5df9911e0a3460d"/>
    <p:sldId xmlns:r="http://schemas.openxmlformats.org/officeDocument/2006/relationships" id="262" r:id="Rdb7adc5f64d84501"/>
    <p:sldId xmlns:r="http://schemas.openxmlformats.org/officeDocument/2006/relationships" id="263" r:id="Rb1dfac48d00241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70ea9e2ebe410e" /><Relationship Type="http://schemas.openxmlformats.org/officeDocument/2006/relationships/slideMaster" Target="/ppt/slideMasters/slideMaster1.xml" Id="R802df551c7d045c6" /><Relationship Type="http://schemas.openxmlformats.org/officeDocument/2006/relationships/notesMaster" Target="/ppt/notesMasters/notesMaster1.xml" Id="R0d29aef76f034774" /><Relationship Type="http://schemas.openxmlformats.org/officeDocument/2006/relationships/presProps" Target="/ppt/presProps.xml" Id="R67b9755c09d54dc5" /><Relationship Type="http://schemas.openxmlformats.org/officeDocument/2006/relationships/tableStyles" Target="/ppt/tableStyles.xml" Id="Ra71b5ca91eb7445e" /><Relationship Type="http://schemas.openxmlformats.org/officeDocument/2006/relationships/slide" Target="/ppt/slides/slide1.xml" Id="R7d86ae9bacfc45c9" /><Relationship Type="http://schemas.openxmlformats.org/officeDocument/2006/relationships/slide" Target="/ppt/slides/slide2.xml" Id="Ra92b8381d5234b87" /><Relationship Type="http://schemas.openxmlformats.org/officeDocument/2006/relationships/slide" Target="/ppt/slides/slide3.xml" Id="Ra3f8c7abfb7d4c89" /><Relationship Type="http://schemas.openxmlformats.org/officeDocument/2006/relationships/slide" Target="/ppt/slides/slide4.xml" Id="R4c88307f0a4e4e1c" /><Relationship Type="http://schemas.openxmlformats.org/officeDocument/2006/relationships/slide" Target="/ppt/slides/slide5.xml" Id="Rddeda7c5cf7b406c" /><Relationship Type="http://schemas.openxmlformats.org/officeDocument/2006/relationships/slide" Target="/ppt/slides/slide6.xml" Id="Rb5df9911e0a3460d" /><Relationship Type="http://schemas.openxmlformats.org/officeDocument/2006/relationships/slide" Target="/ppt/slides/slide7.xml" Id="Rdb7adc5f64d84501" /><Relationship Type="http://schemas.openxmlformats.org/officeDocument/2006/relationships/slide" Target="/ppt/slides/slide8.xml" Id="Rb1dfac48d00241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85806b275c4e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233ce87b034202" /><Relationship Type="http://schemas.openxmlformats.org/officeDocument/2006/relationships/notesMaster" Target="/ppt/notesMasters/notesMaster1.xml" Id="R73f6f4a5c6324e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dcb34f465451f" /><Relationship Type="http://schemas.openxmlformats.org/officeDocument/2006/relationships/notesMaster" Target="/ppt/notesMasters/notesMaster1.xml" Id="R881f091d5ed847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649a042e2541b1" /><Relationship Type="http://schemas.openxmlformats.org/officeDocument/2006/relationships/notesMaster" Target="/ppt/notesMasters/notesMaster1.xml" Id="R195e47df46554d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af0739df8046ff" /><Relationship Type="http://schemas.openxmlformats.org/officeDocument/2006/relationships/notesMaster" Target="/ppt/notesMasters/notesMaster1.xml" Id="Rad98b4b36fd144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8f2f25a8b944bd" /><Relationship Type="http://schemas.openxmlformats.org/officeDocument/2006/relationships/notesMaster" Target="/ppt/notesMasters/notesMaster1.xml" Id="Rea48e956ff4f44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b40fb3daad4494" /><Relationship Type="http://schemas.openxmlformats.org/officeDocument/2006/relationships/notesMaster" Target="/ppt/notesMasters/notesMaster1.xml" Id="Rdb181224eb6b4b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7d9f72de084613" /><Relationship Type="http://schemas.openxmlformats.org/officeDocument/2006/relationships/notesMaster" Target="/ppt/notesMasters/notesMaster1.xml" Id="R669e17509d2f44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432299cc5d4a06" /><Relationship Type="http://schemas.openxmlformats.org/officeDocument/2006/relationships/notesMaster" Target="/ppt/notesMasters/notesMaster1.xml" Id="R32d6ca8a380742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16331232e4f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4305e3a2d2409d" /><Relationship Type="http://schemas.openxmlformats.org/officeDocument/2006/relationships/slideLayout" Target="/ppt/slideLayouts/slideLayout1.xml" Id="R55eedb18bacb4a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eedb18bacb4a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1dcaa773b4702" /><Relationship Type="http://schemas.openxmlformats.org/officeDocument/2006/relationships/image" Target="/ppt/media/image.jpeg" Id="R8692898e96304512" /><Relationship Type="http://schemas.openxmlformats.org/officeDocument/2006/relationships/notesSlide" Target="/ppt/notesSlides/notesSlide1.xml" Id="R9ad56c0064484f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2e4e1c76141c5" /><Relationship Type="http://schemas.openxmlformats.org/officeDocument/2006/relationships/image" Target="/ppt/media/image2.jpeg" Id="Ra5527929741d4ae9" /><Relationship Type="http://schemas.openxmlformats.org/officeDocument/2006/relationships/notesSlide" Target="/ppt/notesSlides/notesSlide2.xml" Id="R169ecf2fd9e042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654d3633744c7" /><Relationship Type="http://schemas.openxmlformats.org/officeDocument/2006/relationships/image" Target="/ppt/media/image3.jpeg" Id="R3c5d778beb884a76" /><Relationship Type="http://schemas.openxmlformats.org/officeDocument/2006/relationships/notesSlide" Target="/ppt/notesSlides/notesSlide3.xml" Id="Rf4e42301d0ca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4b46ce73c422f" /><Relationship Type="http://schemas.openxmlformats.org/officeDocument/2006/relationships/image" Target="/ppt/media/image4.jpeg" Id="R9a104d4878d242c1" /><Relationship Type="http://schemas.openxmlformats.org/officeDocument/2006/relationships/notesSlide" Target="/ppt/notesSlides/notesSlide4.xml" Id="R9c412255224c43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64aed6d404811" /><Relationship Type="http://schemas.openxmlformats.org/officeDocument/2006/relationships/image" Target="/ppt/media/image5.jpeg" Id="R1369ab39e5b04b2c" /><Relationship Type="http://schemas.openxmlformats.org/officeDocument/2006/relationships/notesSlide" Target="/ppt/notesSlides/notesSlide5.xml" Id="R3d69ca49f4a442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30230d64546d1" /><Relationship Type="http://schemas.openxmlformats.org/officeDocument/2006/relationships/notesSlide" Target="/ppt/notesSlides/notesSlide6.xml" Id="R766e7359f34549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80111376d415e" /><Relationship Type="http://schemas.openxmlformats.org/officeDocument/2006/relationships/notesSlide" Target="/ppt/notesSlides/notesSlide7.xml" Id="Rbf4400cf948441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4f85b8bf746e8" /><Relationship Type="http://schemas.openxmlformats.org/officeDocument/2006/relationships/notesSlide" Target="/ppt/notesSlides/notesSlide8.xml" Id="Rc4390aaa8cc945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046CA-7FDC-4472-AC56-3E5CEB7B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2A"/>
          </a:solidFill>
          <a:ln xmlns:a="http://schemas.openxmlformats.org/drawingml/2006/main" w="0">
            <a:solidFill>
              <a:srgbClr val="0E0E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FCF45-2B52-4C5C-8338-D0CDF3F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3174C-F9D4-4CCE-A4E0-38D290C7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Maestranza Control Pro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B4EB2-5391-4085-A82D-05620579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D5DC"/>
                </a:solidFill>
              </a:defRPr>
            </a:pPr>
            <a:r>
              <a:rPr sz="1800" b="0">
                <a:solidFill>
                  <a:srgbClr val="C8D5DC"/>
                </a:solidFill>
              </a:rPr>
              <a:t>Plataforma productiva para OT, planificación, HSEQ, AST/PTW y trazabilidad documental.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2898e96304512"/>
          <a:srcRect xmlns:a="http://schemas.openxmlformats.org/drawingml/2006/main" l="0" t="39381" r="0" b="39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819150"/>
            <a:ext cx="4476750" cy="50482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5B688-4A8F-4ABA-9EA2-B0BBF273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AABD6-0EA4-406A-B0B6-ADA7EA19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Producción desplegada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5BC7D-7471-47EC-AB6E-C7AA877B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DD55E-6104-4CD8-BE89-680D550A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14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AST/PTW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1DA04-2215-476E-B87F-97F3C406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B33A"/>
          </a:solidFill>
          <a:ln xmlns:a="http://schemas.openxmlformats.org/drawingml/2006/main" w="0">
            <a:solidFill>
              <a:srgbClr val="E8B3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57917-2337-4276-BA06-D5B27CF2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14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HSEQ auditable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82962-4DC4-470F-9D0D-34018B74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Objetivo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0E28F-1041-4897-9497-AEA9111B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5DC"/>
                </a:solidFill>
              </a:defRPr>
            </a:pPr>
            <a:r>
              <a:rPr sz="1650" b="0">
                <a:solidFill>
                  <a:srgbClr val="C8D5DC"/>
                </a:solidFill>
              </a:rPr>
              <a:t>Unificar operación, seguridad y evidencia en una sola fuente confiable para equipos industriales.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E0375-A68F-4B80-963A-46D9919A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Maestranza Control Pro · Producción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E963A-E6A3-45AE-8D6F-F38C3E56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5324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05F62-F0B5-4C5C-A3C3-D067D5EC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2A"/>
          </a:solidFill>
          <a:ln xmlns:a="http://schemas.openxmlformats.org/drawingml/2006/main" w="0">
            <a:solidFill>
              <a:srgbClr val="0E0E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A02C3-D12D-4DE3-BF8C-B392CD29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D45C2-72B0-4E89-9A1A-E8256A5E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El control operacional queda concentrado en una vista ejecutiva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27929741d4ae9"/>
          <a:srcRect xmlns:a="http://schemas.openxmlformats.org/drawingml/2006/main" l="0" t="25882" r="0" b="25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6286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8DF7C-99E8-4D33-8C2B-CB2B05EF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76400"/>
            <a:ext cx="3619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70919-8ED6-455D-A764-5DABBDD9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57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KPIs vivos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C09F6-FEB5-477E-B728-AD2D67F3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5DC"/>
                </a:solidFill>
              </a:defRPr>
            </a:pPr>
            <a:r>
              <a:rPr sz="1275" b="0">
                <a:solidFill>
                  <a:srgbClr val="C8D5DC"/>
                </a:solidFill>
              </a:rPr>
              <a:t>Órdenes activas, atrasos, avance promedio y alertas HSEQ.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D8F0A-65EA-484F-AA8A-C1526C40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0350"/>
            <a:ext cx="3619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577A4-ABD9-4E76-8E76-E12B099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81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Foco diario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86874-6F7A-4488-B16C-138316A7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14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5DC"/>
                </a:solidFill>
              </a:defRPr>
            </a:pPr>
            <a:r>
              <a:rPr sz="1275" b="0">
                <a:solidFill>
                  <a:srgbClr val="C8D5DC"/>
                </a:solidFill>
              </a:rPr>
              <a:t>La operación ve prioridades y compromisos sin buscar en planillas.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8B459-7D9E-4666-A4BC-56E31F5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24300"/>
            <a:ext cx="3619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044AC-90DB-4BF8-8A08-F0C95AE4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052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Estado claro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1BDAC-8643-43C2-89E9-306874FD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38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5DC"/>
                </a:solidFill>
              </a:defRPr>
            </a:pPr>
            <a:r>
              <a:rPr sz="1275" b="0">
                <a:solidFill>
                  <a:srgbClr val="C8D5DC"/>
                </a:solidFill>
              </a:rPr>
              <a:t>Rojo para crítico, naranja para advertencia y azul para cumplimiento.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C340B-D675-4A45-ACA0-0526575A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Maestranza Control Pro · Producción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DB351-ABE2-4607-BB86-5A47D59B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7953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83BB83-BD92-4610-BAFD-4B905414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2A"/>
          </a:solidFill>
          <a:ln xmlns:a="http://schemas.openxmlformats.org/drawingml/2006/main" w="0">
            <a:solidFill>
              <a:srgbClr val="0E0E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CC277-8F27-4CBB-A6FD-F4F9FCC5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312AE-3DA6-4448-A4E0-3243B1D2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Cada OT conecta planificación, dotación y avance real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d778beb884a76"/>
          <a:srcRect xmlns:a="http://schemas.openxmlformats.org/drawingml/2006/main" l="0" t="25156" r="0" b="25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43050"/>
            <a:ext cx="65722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A269A-DA6A-4F16-94E4-85F3049A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Flujo operativo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10B7D-DD0E-4984-8BAF-B794B4D4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4A0C9-8573-4BEF-BA68-1F4EF3F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45EB9-78AA-45FF-938C-E39088B8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Crear OT y responsable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1F13F-B4FB-4627-A429-78E4E929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696D0-1583-440C-8DAC-A5AF56C7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7BDED-9B68-4792-BD5F-75115FAD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Asignar tareas y procesos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7B2FA-93A4-434C-95EA-BFE12B55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05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BE757-7AB7-482E-8D33-67D35901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81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64AA0-24E8-41A1-B67A-F1B5FE7E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Generar carta Gantt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15C11-BA72-41BF-88C6-2FA057F5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6042C-25DB-4DC2-A51A-55166641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98F90-D4FB-4D3F-81AE-3F3D7F64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Controlar avance y atrasos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D00F5-48A5-4B64-B84B-01591CD4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19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5DC"/>
                </a:solidFill>
              </a:defRPr>
            </a:pPr>
            <a:r>
              <a:rPr sz="1500" b="0">
                <a:solidFill>
                  <a:srgbClr val="C8D5DC"/>
                </a:solidFill>
              </a:rPr>
              <a:t>Resultado: planificación trazable por proyecto, proceso y responsable.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8AF6B-212D-434C-BB95-7B95EE93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Maestranza Control Pro · Producción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8B97D-9480-47E4-9E73-D267B271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3278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68B3FB-3BC2-4578-9666-68AE13C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2A"/>
          </a:solidFill>
          <a:ln xmlns:a="http://schemas.openxmlformats.org/drawingml/2006/main" w="0">
            <a:solidFill>
              <a:srgbClr val="0E0E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F186F-5D27-4349-9DAA-82633E0C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49AAB-88CA-430A-9FAF-6F0BA09C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HSEQ deja de ser registro aislado y pasa a controlar la ejecución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04d4878d242c1"/>
          <a:srcRect xmlns:a="http://schemas.openxmlformats.org/drawingml/2006/main" l="0" t="24984" r="0" b="249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81150"/>
            <a:ext cx="5905500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400A1-45DA-4561-8F9F-829D06B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811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4769-BC6F-4857-B8DB-45BA7A50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AST digital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C6DFD-ABE4-4A70-AA35-1BC9AF67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C"/>
                </a:solidFill>
              </a:defRPr>
            </a:pPr>
            <a:r>
              <a:rPr sz="1350" b="0">
                <a:solidFill>
                  <a:srgbClr val="C8D5DC"/>
                </a:solidFill>
              </a:rPr>
              <a:t>Pasos, peligros, controles, riesgo residual y aprobación.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E6343-1665-4986-B898-A21A55E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908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FA86A-DFF1-45E2-B6D9-AACCBCD9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19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PTW vigente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28750-A29F-4AFA-AD4F-647F607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19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C"/>
                </a:solidFill>
              </a:defRPr>
            </a:pPr>
            <a:r>
              <a:rPr sz="1350" b="0">
                <a:solidFill>
                  <a:srgbClr val="C8D5DC"/>
                </a:solidFill>
              </a:rPr>
              <a:t>Permisos tipificados por riesgo y validados contra AST aprobado.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7B596-E7B0-4E4B-97DA-92C4B4FD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38420-BED3-4F7F-AB74-982CF346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29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Bloqueo automático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39897-058F-409F-83AE-14BB23A0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C"/>
                </a:solidFill>
              </a:defRPr>
            </a:pPr>
            <a:r>
              <a:rPr sz="1350" b="0">
                <a:solidFill>
                  <a:srgbClr val="C8D5DC"/>
                </a:solidFill>
              </a:rPr>
              <a:t>Una tarea crítica no avanza sin cumplimiento HSEQ.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2C399-76FC-45A2-B3EC-7FD37F16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Maestranza Control Pro · Producción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78CD4-C97B-4B81-BCB1-14CA7FAC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272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4964C-75A3-4E85-8060-24B5A29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2A"/>
          </a:solidFill>
          <a:ln xmlns:a="http://schemas.openxmlformats.org/drawingml/2006/main" w="0">
            <a:solidFill>
              <a:srgbClr val="0E0E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F0BA6-7506-4062-901E-A39365DB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2A294-41C4-4F26-BD77-E85ABBAC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El dossier documental queda vinculado a OT y registros HSEQ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9ab39e5b04b2c"/>
          <a:srcRect xmlns:a="http://schemas.openxmlformats.org/drawingml/2006/main" l="0" t="16132" r="0" b="16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1543050"/>
            <a:ext cx="44767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3AF07-1E5A-45B2-9A6D-80EA0A3B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Evidencias que soportan la liberación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23EF0-A1B7-4C16-A0FA-C7E2A123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33A"/>
          </a:solidFill>
          <a:ln xmlns:a="http://schemas.openxmlformats.org/drawingml/2006/main" w="0">
            <a:solidFill>
              <a:srgbClr val="E8B3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025AB-DFB0-45B0-A0FB-F66E2A24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384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5DC"/>
                </a:solidFill>
              </a:defRPr>
            </a:pPr>
            <a:r>
              <a:rPr sz="1650" b="0">
                <a:solidFill>
                  <a:srgbClr val="C8D5DC"/>
                </a:solidFill>
              </a:rPr>
              <a:t>Procedimientos, certificados y registros de inspección.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04A6B-DD97-4C20-AAD9-3042F254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33A"/>
          </a:solidFill>
          <a:ln xmlns:a="http://schemas.openxmlformats.org/drawingml/2006/main" w="0">
            <a:solidFill>
              <a:srgbClr val="E8B3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BB3CE-523D-4FC5-B299-833F06A6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5DC"/>
                </a:solidFill>
              </a:defRPr>
            </a:pPr>
            <a:r>
              <a:rPr sz="1650" b="0">
                <a:solidFill>
                  <a:srgbClr val="C8D5DC"/>
                </a:solidFill>
              </a:rPr>
              <a:t>Visibilidad pública/privada para portal cliente.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3F00D-5370-4BA3-80FB-FABC02F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33A"/>
          </a:solidFill>
          <a:ln xmlns:a="http://schemas.openxmlformats.org/drawingml/2006/main" w="0">
            <a:solidFill>
              <a:srgbClr val="E8B3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36CE4-7B74-49A9-B379-D57A5D63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5DC"/>
                </a:solidFill>
              </a:defRPr>
            </a:pPr>
            <a:r>
              <a:rPr sz="1650" b="0">
                <a:solidFill>
                  <a:srgbClr val="C8D5DC"/>
                </a:solidFill>
              </a:rPr>
              <a:t>Trazabilidad para cierre de OT y auditorías ISO.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1EEA2-02E9-43B9-8EE6-D820FD1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Maestranza Control Pro · Producción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72CBB-E508-49EB-B226-E5F1B260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7932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DBC8C2-EA8E-4F22-A781-625C8831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2A"/>
          </a:solidFill>
          <a:ln xmlns:a="http://schemas.openxmlformats.org/drawingml/2006/main" w="0">
            <a:solidFill>
              <a:srgbClr val="0E0E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CE988-0A5B-4B57-A628-4B660AD7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C2FF4-4091-4AF0-906C-2A511CB2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El despliegue productivo ya quedó validado extremo a extremo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80FB2-7804-4259-BC87-5B19A4A5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00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4563B-590D-4A07-A6F9-D425F9AA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Producción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95AB8-0D2F-4EFF-B2F6-97A520CB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288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5DC"/>
                </a:solidFill>
              </a:defRPr>
            </a:pPr>
            <a:r>
              <a:rPr sz="1275" b="0">
                <a:solidFill>
                  <a:srgbClr val="C8D5DC"/>
                </a:solidFill>
              </a:rPr>
              <a:t>https://maestranza-control-pro.vercel.app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4E003-6F6C-409D-8AA8-E159D2E0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71650"/>
            <a:ext cx="609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BDF7D-A26F-4A32-AF5A-FABE74B9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28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B73C8-EE5E-4416-A3C2-BCB04AA3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000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6163F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CD4B4-BF97-467A-9DE8-D77D1EF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C042C-9F1F-4851-9D97-1A7D8E7C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52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5DC"/>
                </a:solidFill>
              </a:defRPr>
            </a:pPr>
            <a:r>
              <a:rPr sz="1275" b="0">
                <a:solidFill>
                  <a:srgbClr val="C8D5DC"/>
                </a:solidFill>
              </a:rPr>
              <a:t>Migración AST/PTW aplicada en Neon 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7DE2F-A6CE-44FE-9B34-FD5A14A4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95550"/>
            <a:ext cx="609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6F279-D07C-49FB-BF76-E966E51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8AC95-C0E7-4EA3-BCC2-73BFFAD2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000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9AFC3-5BFD-4683-8934-56F42EBE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Health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5D2A5-AD39-48C3-8E32-0E341F8C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5DC"/>
                </a:solidFill>
              </a:defRPr>
            </a:pPr>
            <a:r>
              <a:rPr sz="1275" b="0">
                <a:solidFill>
                  <a:srgbClr val="C8D5DC"/>
                </a:solidFill>
              </a:rPr>
              <a:t>/api/health con database ok y schema 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89CC5-73DF-4B7D-8349-0503B3FE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19450"/>
            <a:ext cx="609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E6C4B-3338-404A-AAE2-2B7D92BB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766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58EB8-CFCA-4703-8993-41D27C10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00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6163F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BAEF6-2B5A-4455-93AE-26369C4E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Build remoto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76BF6-E110-4B40-B81B-44AB1958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00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5DC"/>
                </a:solidFill>
              </a:defRPr>
            </a:pPr>
            <a:r>
              <a:rPr sz="1275" b="0">
                <a:solidFill>
                  <a:srgbClr val="C8D5DC"/>
                </a:solidFill>
              </a:rPr>
              <a:t>Next.js 16.2.9 compilado en Vercel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00808-4EF1-4262-96FE-8129AF58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43350"/>
            <a:ext cx="609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869C6-4FBD-4BEF-85F3-1A2FC09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CFDF4-604F-4912-A615-A33FF83E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5DC"/>
                </a:solidFill>
              </a:defRPr>
            </a:pPr>
            <a:r>
              <a:rPr sz="1650" b="0">
                <a:solidFill>
                  <a:srgbClr val="C8D5DC"/>
                </a:solidFill>
              </a:rPr>
              <a:t>La plataforma quedó publicada con autenticación, rutas protegidas y esquema actualizado.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B2B7D-C338-4240-B228-77CEBA74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Maestranza Control Pro · Producción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8F2B8-262D-4491-BC7F-E6A541E0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7459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5FA714-3FA2-4DCC-8D49-72E4FE06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2A"/>
          </a:solidFill>
          <a:ln xmlns:a="http://schemas.openxmlformats.org/drawingml/2006/main" w="0">
            <a:solidFill>
              <a:srgbClr val="0E0E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12E95-AEC1-41A3-8FDC-9F34A322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F8C88-4C24-432B-B3D5-44570889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Beneficios para operación, HSEQ y gerencia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78A03-5125-468F-BFC0-16C4D4F2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572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4D84D-80F4-4CD0-BEEE-B17611FB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Menos dispersión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62E3C-58CB-49CF-98BA-FE1523F4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C"/>
                </a:solidFill>
              </a:defRPr>
            </a:pPr>
            <a:r>
              <a:rPr sz="1350" b="0">
                <a:solidFill>
                  <a:srgbClr val="C8D5DC"/>
                </a:solidFill>
              </a:rPr>
              <a:t>OT, Gantt, HSEQ y documentos conviven en el mismo flujo.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BB1BA-8534-4DDF-A247-E3A3C60A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38300"/>
            <a:ext cx="4572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6C621-8FBD-41CE-A610-2CCC98A2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Más control preventivo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058C2-F38C-4CB1-B489-F033C455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C"/>
                </a:solidFill>
              </a:defRPr>
            </a:pPr>
            <a:r>
              <a:rPr sz="1350" b="0">
                <a:solidFill>
                  <a:srgbClr val="C8D5DC"/>
                </a:solidFill>
              </a:rPr>
              <a:t>AST/PTW bloquean avances inseguros antes de ejecutar.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B54F2-B2F5-42AD-8483-69CD50C8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572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D6572-AF56-4280-B2DC-FC2B0FE4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Auditoría preparada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55008-902A-408F-8E41-4A12CF78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C"/>
                </a:solidFill>
              </a:defRPr>
            </a:pPr>
            <a:r>
              <a:rPr sz="1350" b="0">
                <a:solidFill>
                  <a:srgbClr val="C8D5DC"/>
                </a:solidFill>
              </a:rPr>
              <a:t>Acciones sensibles quedan registradas para seguimiento.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86596-F777-4F9A-ACC3-566F05CE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4572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AAB6E-70E5-430C-BA4E-EE31E3E6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Mejor lectura visual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8EB00-E3CC-4A6A-A0F5-9C70F641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C"/>
                </a:solidFill>
              </a:defRPr>
            </a:pPr>
            <a:r>
              <a:rPr sz="1350" b="0">
                <a:solidFill>
                  <a:srgbClr val="C8D5DC"/>
                </a:solidFill>
              </a:rPr>
              <a:t>Paleta rojo, azul, naranja y blanco sin dependencias verdes.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1847D-6AAF-4646-B02E-918F969E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Maestranza Control Pro · Producción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A80EF-2340-455F-ACAD-B3B2F154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1235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4FBE3-2859-430B-9BD1-4D9213E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2A"/>
          </a:solidFill>
          <a:ln xmlns:a="http://schemas.openxmlformats.org/drawingml/2006/main" w="0">
            <a:solidFill>
              <a:srgbClr val="0E0E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22CBB-8B18-4305-BEF8-5C8A8BF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30"/>
          </a:solidFill>
          <a:ln xmlns:a="http://schemas.openxmlformats.org/drawingml/2006/main" w="0">
            <a:solidFill>
              <a:srgbClr val="D929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E09D9-B5D1-47DA-B167-1F0DCD4A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Siguiente paso recomendado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DE3C9-B635-44AD-96C3-94C7020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D5DC"/>
                </a:solidFill>
              </a:defRPr>
            </a:pPr>
            <a:r>
              <a:rPr sz="2025" b="0">
                <a:solidFill>
                  <a:srgbClr val="C8D5DC"/>
                </a:solidFill>
              </a:rPr>
              <a:t>Ejecutar una revisión operativa con usuarios clave y cargar AST/PTW reales de una OT crítica.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B9EFB-E782-469C-BA91-698C59FA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04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767F2-CB15-43D7-A0C0-49D0E98F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B33A"/>
                </a:solidFill>
              </a:defRPr>
            </a:pPr>
            <a:r>
              <a:rPr sz="2550" b="1">
                <a:solidFill>
                  <a:srgbClr val="E8B33A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B5F80-0A06-4665-8C63-58AA5E0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Validar flujo de OT crítica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7D9D5-103A-47D1-8424-D2C3A69E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DC"/>
                </a:solidFill>
              </a:defRPr>
            </a:pPr>
            <a:r>
              <a:rPr sz="1200" b="0">
                <a:solidFill>
                  <a:srgbClr val="C8D5DC"/>
                </a:solidFill>
              </a:rPr>
              <a:t>Crear tarea, AST, PTW y cierre controlado.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36BFC-0522-4BC8-8685-E31181FD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304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95421-60C6-42ED-8098-EF534524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B33A"/>
                </a:solidFill>
              </a:defRPr>
            </a:pPr>
            <a:r>
              <a:rPr sz="2550" b="1">
                <a:solidFill>
                  <a:srgbClr val="E8B33A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887D3-048D-4976-8DAC-F43A425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670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Cargar evidencias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72608-BA33-4188-A82F-69312969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00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DC"/>
                </a:solidFill>
              </a:defRPr>
            </a:pPr>
            <a:r>
              <a:rPr sz="1200" b="0">
                <a:solidFill>
                  <a:srgbClr val="C8D5DC"/>
                </a:solidFill>
              </a:rPr>
              <a:t>Documentos, certificados y registros HSEQ.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9B5DE-C973-4852-B3A4-4432D358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304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B33"/>
          </a:solidFill>
          <a:ln xmlns:a="http://schemas.openxmlformats.org/drawingml/2006/main" w="9525">
            <a:solidFill>
              <a:srgbClr val="2A36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B5C1E-EC09-4E77-8198-3EEB3E67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9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B33A"/>
                </a:solidFill>
              </a:defRPr>
            </a:pPr>
            <a:r>
              <a:rPr sz="2550" b="1">
                <a:solidFill>
                  <a:srgbClr val="E8B33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A8C5B-F025-420A-A60C-E57F079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Cerrar dossier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96940-CDCF-4D52-9C03-7D14303C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DC"/>
                </a:solidFill>
              </a:defRPr>
            </a:pPr>
            <a:r>
              <a:rPr sz="1200" b="0">
                <a:solidFill>
                  <a:srgbClr val="C8D5DC"/>
                </a:solidFill>
              </a:rPr>
              <a:t>Verificar trazabilidad para auditoría.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76319-A830-447B-82CE-96B1D8FD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URL productiva: maestranza-control-pro.vercel.app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6FE4C-8B35-4880-8EE4-6F7634B4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Maestranza Control Pro · Producción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F0724-0D48-44F0-A264-951753B2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0AA"/>
                </a:solidFill>
              </a:defRPr>
            </a:pPr>
            <a:r>
              <a:rPr sz="975" b="0">
                <a:solidFill>
                  <a:srgbClr val="8EA0A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314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2026-07-06T20:05:25.5630000Z</dcterms:created>
  <dcterms:modified xsi:type="dcterms:W3CDTF">2026-07-06T20:05:25.5630000Z</dcterms:modified>
</coreProperties>
</file>